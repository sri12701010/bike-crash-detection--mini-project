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3" r:id="rId7"/>
    <p:sldId id="259" r:id="rId8"/>
    <p:sldId id="269" r:id="rId9"/>
    <p:sldId id="270" r:id="rId10"/>
    <p:sldId id="274" r:id="rId11"/>
    <p:sldId id="271" r:id="rId12"/>
    <p:sldId id="272" r:id="rId13"/>
    <p:sldId id="262" r:id="rId14"/>
    <p:sldId id="275" r:id="rId15"/>
    <p:sldId id="276" r:id="rId16"/>
    <p:sldId id="277" r:id="rId17"/>
    <p:sldId id="260" r:id="rId18"/>
    <p:sldId id="268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3" d="100"/>
          <a:sy n="63" d="100"/>
        </p:scale>
        <p:origin x="1380" y="52"/>
      </p:cViewPr>
      <p:guideLst>
        <p:guide orient="horz" pos="20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E769C-B82C-4EBF-AFDE-30368C9013FA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EC1C6-DC07-4644-8E97-0F093327BA8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6E1A-79D4-4D66-96A9-02641756F6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06F6-D2CD-4DB9-9FF0-408322DF33B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4547" y="155369"/>
            <a:ext cx="1030488" cy="805069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59634" y="52318"/>
            <a:ext cx="8994913" cy="6805681"/>
          </a:xfrm>
          <a:prstGeom prst="rect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F3E0-320B-4D14-8163-71670D2A87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264D-EDA7-4520-847D-75D428A2348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BB296-D3D6-4976-914C-C0AA2A364825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4B5E-B29E-44C1-B11E-DFB87F8CBE9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388D-7596-40C4-8D6A-FBC9A5300160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444E-C341-47B3-8EF7-7471E07CEE7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8120A-6733-425C-9AB1-AC6938AE6D9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B8F7-A5B2-4141-99E2-A507119EDB8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DE0-104F-4C7B-9332-ADB8CD27A54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E183-FF20-4E68-A843-2ACC3178A35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AIML &amp; AIDS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" y="252730"/>
            <a:ext cx="8766810" cy="1358265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0000"/>
                </a:solidFill>
                <a:latin typeface="Calibri" panose="020F0502020204030204"/>
              </a:defRPr>
            </a:pPr>
            <a:br>
              <a:rPr lang="en-IN" sz="4000" dirty="0"/>
            </a:br>
            <a:br>
              <a:rPr lang="en-IN" sz="4000" dirty="0"/>
            </a:br>
            <a:r>
              <a:rPr lang="en-IN" sz="4000" dirty="0">
                <a:solidFill>
                  <a:schemeClr val="accent1"/>
                </a:solidFill>
              </a:rPr>
              <a:t>VARDHAMAN COLLEGE OF ENGINEERING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sz="3600" dirty="0">
                <a:solidFill>
                  <a:schemeClr val="accent1"/>
                </a:solidFill>
              </a:rPr>
              <a:t>DEPARTMENT OF </a:t>
            </a:r>
            <a:r>
              <a:rPr lang="en-IN" sz="3555" dirty="0">
                <a:solidFill>
                  <a:schemeClr val="accent1"/>
                </a:solidFill>
                <a:sym typeface="+mn-ea"/>
              </a:rPr>
              <a:t>COMPUTER SCIENCE AND ENGINEERING</a:t>
            </a:r>
            <a:endParaRPr lang="en-IN" sz="3555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7" y="2209800"/>
            <a:ext cx="7783288" cy="4144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Mini Project Review - 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Title: Bike Crash Detection Using Machine Learning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Team No: 23MPCS-G8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u="sng" dirty="0"/>
          </a:p>
          <a:p>
            <a:pPr marL="0" indent="0" algn="ctr">
              <a:buNone/>
            </a:pPr>
            <a:r>
              <a:rPr lang="en-US" u="sng" dirty="0"/>
              <a:t>Guide Details</a:t>
            </a:r>
            <a:endParaRPr lang="en-US" u="sng" dirty="0"/>
          </a:p>
          <a:p>
            <a:pPr marL="0" indent="0" algn="ctr">
              <a:buNone/>
            </a:pPr>
            <a:r>
              <a:rPr lang="en-US" dirty="0"/>
              <a:t>N</a:t>
            </a:r>
            <a:r>
              <a:rPr lang="en-IN" dirty="0" err="1"/>
              <a:t>amani</a:t>
            </a:r>
            <a:r>
              <a:rPr lang="en-IN" dirty="0"/>
              <a:t> </a:t>
            </a:r>
            <a:r>
              <a:rPr lang="en-US" dirty="0"/>
              <a:t>Deepika Rani</a:t>
            </a:r>
            <a:endParaRPr lang="en-US" dirty="0"/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/>
              <a:t>Assistant Professor</a:t>
            </a:r>
            <a:endParaRPr lang="en-US" dirty="0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 panose="020F0502020204030204"/>
              </a:defRPr>
            </a:pPr>
            <a:endParaRPr lang="en-IN" dirty="0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 panose="020F0502020204030204"/>
              </a:defRPr>
            </a:pPr>
            <a:endParaRPr lang="en-IN" dirty="0"/>
          </a:p>
          <a:p>
            <a:pPr algn="l">
              <a:defRPr sz="2400">
                <a:solidFill>
                  <a:srgbClr val="505050"/>
                </a:solidFill>
                <a:latin typeface="Calibri" panose="020F0502020204030204"/>
              </a:defRPr>
            </a:pP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4979963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7800" y="3703683"/>
          <a:ext cx="6096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23881A05EH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T.Sri</a:t>
                      </a:r>
                      <a:r>
                        <a:rPr lang="en-US" dirty="0"/>
                        <a:t> Lakshmi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23881A05DS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N.Rishitha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23881A05ED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E.</a:t>
                      </a:r>
                      <a:r>
                        <a:rPr lang="en-IN" altLang="en-US" dirty="0" err="1"/>
                        <a:t>Sai Nipun</a:t>
                      </a:r>
                      <a:r>
                        <a:rPr lang="en-US" dirty="0"/>
                        <a:t> Reddy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Table of Contents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dirty="0"/>
              <a:t>1. Title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2. Introduction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3</a:t>
            </a:r>
            <a:r>
              <a:rPr lang="en-US" dirty="0"/>
              <a:t>. Background Research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4</a:t>
            </a:r>
            <a:r>
              <a:rPr lang="en-US" dirty="0"/>
              <a:t>. </a:t>
            </a:r>
            <a:r>
              <a:rPr lang="en-IN" altLang="en-US" dirty="0"/>
              <a:t>Architecture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5.Project planning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6</a:t>
            </a:r>
            <a:r>
              <a:rPr lang="en-US" dirty="0"/>
              <a:t>. Literature Survey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7. Implementation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8. Flowchart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9</a:t>
            </a:r>
            <a:r>
              <a:rPr lang="en-US" dirty="0"/>
              <a:t>. Objectives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10</a:t>
            </a:r>
            <a:r>
              <a:rPr lang="en-US" dirty="0"/>
              <a:t>. Project Milestone Tracker</a:t>
            </a:r>
            <a:endParaRPr lang="en-US" dirty="0"/>
          </a:p>
          <a:p>
            <a:pPr marL="0" indent="0">
              <a:buNone/>
            </a:pPr>
            <a:r>
              <a:rPr lang="en-IN" altLang="en-US" dirty="0"/>
              <a:t>11</a:t>
            </a:r>
            <a:r>
              <a:rPr lang="en-US" dirty="0"/>
              <a:t>. </a:t>
            </a:r>
            <a:r>
              <a:rPr lang="en-IN" altLang="en-US" dirty="0"/>
              <a:t>Results</a:t>
            </a:r>
            <a:endParaRPr lang="en-I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66425" y="6356350"/>
            <a:ext cx="4642338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076960"/>
            <a:ext cx="8392160" cy="5279390"/>
          </a:xfrm>
        </p:spPr>
        <p:txBody>
          <a:bodyPr>
            <a:normAutofit lnSpcReduction="20000"/>
          </a:bodyPr>
          <a:lstStyle/>
          <a:p>
            <a:r>
              <a:rPr lang="en-US" dirty="0"/>
              <a:t>Project </a:t>
            </a:r>
            <a:r>
              <a:rPr lang="en-US" dirty="0" err="1"/>
              <a:t>Title:Bike</a:t>
            </a:r>
            <a:r>
              <a:rPr lang="en-US" dirty="0"/>
              <a:t> Crash Detection Using Machine Learning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Domain/Area: Machine Learning</a:t>
            </a:r>
            <a:endParaRPr lang="en-US" dirty="0"/>
          </a:p>
          <a:p>
            <a:r>
              <a:rPr lang="en-US" dirty="0"/>
              <a:t>Type: Application</a:t>
            </a:r>
            <a:r>
              <a:rPr lang="en-IN" altLang="en-US" dirty="0"/>
              <a:t>(</a:t>
            </a:r>
            <a:r>
              <a:rPr>
                <a:sym typeface="+mn-ea"/>
              </a:rPr>
              <a:t> Intelligent Safety System</a:t>
            </a:r>
            <a:r>
              <a:rPr lang="en-IN">
                <a:sym typeface="+mn-ea"/>
              </a:rPr>
              <a:t>)</a:t>
            </a:r>
            <a:endParaRPr lang="en-US" dirty="0"/>
          </a:p>
          <a:p>
            <a:r>
              <a:rPr lang="en-US" dirty="0"/>
              <a:t>Keywords:</a:t>
            </a:r>
            <a:r>
              <a:rPr lang="en-IN" altLang="en-US" dirty="0"/>
              <a:t>Random Forest Tree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                      SVM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                      Neural Networks</a:t>
            </a:r>
            <a:endParaRPr lang="en-I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78965" y="6356350"/>
            <a:ext cx="499403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INTRODUCTION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Road traffic injuries are also one of the primary reasons for death in the world, especially in developing countries, where two-wheelers are recognized as the primary mode of transport.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 Physical safety for riders is a very minimal advantage of using motorcycles compared to four-wheeled vehicles, and hence the need for accident response and rapid delivery of first aid. 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Among the most important factors related to the regulation of accidents, the issue of delayed reporting should be mentioned.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 Awareness and severe injuries hinder victims in many cases to make calls for assistance.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 Automatic systems of crash detection can significantly reduce the time of response and improve the survival rate.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 dirty="0"/>
            </a:br>
            <a:r>
              <a:rPr lang="en-IN" dirty="0"/>
              <a:t>BACKGROUND RESEARCH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Bike accidents often go unreported quickly, leading to delayed medical help.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Traditional crash detection uses fixed thresholds, but these methods are inaccurate because normal bumps and sudden braking can look like accidents. 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With the availability of sensors like accelerometers, gyroscopes, and GPS, researchers started using machine learning to analyze sensor patterns and accurately detect real crashes.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ML-based systems can identify accidents more reliably and send automatic alerts to emergency services, helping reduce response time and save lives.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>
                <a:sym typeface="+mn-ea"/>
              </a:rPr>
            </a:br>
            <a:r>
              <a:rPr>
                <a:sym typeface="+mn-ea"/>
              </a:rPr>
              <a:t>BACKGROUND RESEARCH – Challenges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  <a:p>
            <a:r>
              <a:rPr>
                <a:sym typeface="+mn-ea"/>
              </a:rPr>
              <a:t> Delayed accident reporting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High false alarms in threshold-based systems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Lack of real-time intelligence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Limited accuracy in complex crash scenarios</a:t>
            </a:r>
            <a:endParaRPr>
              <a:sym typeface="+mn-ea"/>
            </a:endParaRP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>
                <a:sym typeface="+mn-ea"/>
              </a:rPr>
            </a:br>
            <a:br>
              <a:rPr>
                <a:sym typeface="+mn-ea"/>
              </a:rPr>
            </a:br>
            <a:r>
              <a:rPr>
                <a:sym typeface="+mn-ea"/>
              </a:rPr>
              <a:t>BACKGROUND RESEARCH – Motivation</a:t>
            </a:r>
            <a:br>
              <a:rPr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/>
          </a:p>
          <a:p>
            <a:r>
              <a:rPr>
                <a:sym typeface="+mn-ea"/>
              </a:rPr>
              <a:t>Rising number of bike accidents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Need for automatic emergency response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Advances in machine learning &amp; sensors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Improving rider safety &amp; reducing response time</a:t>
            </a:r>
            <a:endParaRPr>
              <a:sym typeface="+mn-ea"/>
            </a:endParaRP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ARCHITECTURE</a:t>
            </a:r>
            <a:endParaRPr lang="en-IN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0140" y="1600200"/>
            <a:ext cx="6903085" cy="452628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PROJECT PLANNING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69835" cy="3536315"/>
          </a:xfrm>
        </p:spPr>
        <p:txBody>
          <a:bodyPr>
            <a:noAutofit/>
          </a:bodyPr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Phase 1 — Problem Understanding &amp; Literature Review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Study existing bike crash detection methods, identify 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limitations, define project scope, and review related research.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Phase 2 — Data Collection &amp; Preparation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Collect sensor data (accelerometer, gyroscope); preprocess, clean, and label crash and non-crash events.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Phase 3 — Model Training &amp; Development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Extract features and train machine-learning models; tune parameters and validate detection results.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Phase 4 — Evaluation &amp; Optimization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Evaluate performance using accuracy, precision, recall, and F1-score; optimize to reduce false alarms.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Phase 5 — Deployment / Demonstration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Integrate the model into a prototype system with real-time crash detection and emergency alerts.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Phase 6 — Report / Presentation Preparation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Document results, compare with existing work, and outline future improvements.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285">
              <a:latin typeface="Calibri" panose="020F0502020204030204" charset="0"/>
              <a:cs typeface="Calibri" panose="020F0502020204030204" charset="0"/>
            </a:endParaRPr>
          </a:p>
          <a:p>
            <a:endParaRPr lang="en-US" sz="2285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</a:t>
            </a:r>
            <a:r>
              <a:rPr lang="en-US" b="1" dirty="0">
                <a:sym typeface="+mn-ea"/>
              </a:rPr>
              <a:t> Computer Science an</a:t>
            </a:r>
            <a:r>
              <a:rPr lang="en-IN" altLang="en-US" b="1" dirty="0">
                <a:sym typeface="+mn-ea"/>
              </a:rPr>
              <a:t>d </a:t>
            </a:r>
            <a:r>
              <a:rPr lang="en-US" b="1" dirty="0">
                <a:sym typeface="+mn-ea"/>
              </a:rPr>
              <a:t>Engineering</a:t>
            </a:r>
            <a:endParaRPr lang="en-US" b="1" dirty="0"/>
          </a:p>
          <a:p>
            <a:endParaRPr lang="en-I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</a:t>
            </a:r>
            <a:br>
              <a:rPr lang="en-IN" dirty="0"/>
            </a:b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0" y="848360"/>
            <a:ext cx="8772525" cy="562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IMPLEMENTATION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Based on a deep learning approach, our Bike Crash Detection System implementation employs a hybrid Convolutional Neural Network (CNN) and Long</a:t>
            </a:r>
            <a:r>
              <a:rPr lang="en-IN" altLang="en-US"/>
              <a:t> </a:t>
            </a:r>
            <a:r>
              <a:rPr lang="en-US" altLang="en-US"/>
              <a:t>Short-Term Memory (LSTM) network to detect crash and non-crash situations based on sensor data. The </a:t>
            </a:r>
            <a:endParaRPr lang="en-US" altLang="en-US"/>
          </a:p>
          <a:p>
            <a:r>
              <a:rPr lang="en-US" altLang="en-US"/>
              <a:t>system was developed using the Python programming language and the TensorFlow/Keras deep learning library. </a:t>
            </a:r>
            <a:endParaRPr lang="en-US" altLang="en-US"/>
          </a:p>
          <a:p>
            <a:r>
              <a:rPr lang="en-US" altLang="en-US"/>
              <a:t>The system as a whole combines real-time sensor data acquisition, preprocessing modules, model prediction, and emergency notification generation.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IMPLEMENTATION</a:t>
            </a:r>
            <a:endParaRPr lang="en-IN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3780" y="2008505"/>
            <a:ext cx="7076440" cy="397065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FLOW CHART</a:t>
            </a:r>
            <a:endParaRPr lang="en-IN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74215" y="1600200"/>
            <a:ext cx="5271770" cy="475615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Department of AIML &amp; AIDS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dirty="0"/>
              <a:t>OBJECTIVES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 lnSpcReduction="20000"/>
          </a:bodyPr>
          <a:lstStyle/>
          <a:p>
            <a:pPr marL="0" indent="0">
              <a:buNone/>
            </a:pPr>
            <a:r>
              <a:rPr lang="en-US" sz="3700" dirty="0"/>
              <a:t>1.To develop a machine learning model that accurately detects bike crashes using sensor data use accelerometer, gyroscope, and other IMU readings to identify sudden impact or abnormal movement patterns.</a:t>
            </a:r>
            <a:endParaRPr lang="en-US" sz="3700" dirty="0"/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r>
              <a:rPr lang="en-US" sz="3700" dirty="0"/>
              <a:t>2. To collect and analyze sensor data for both normal rides and crash-like events Build a dataset that helps differentiate between routine bike movements and actual accidents.</a:t>
            </a:r>
            <a:endParaRPr lang="en-US" sz="3700" dirty="0"/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r>
              <a:rPr lang="en-US" sz="3700" dirty="0"/>
              <a:t>3. To reduce false alarms by applying advanced ML/DL techniques Improve reliability compared to simple threshold-based systems that confuse bumps or sudden braking as crashes.</a:t>
            </a:r>
            <a:endParaRPr lang="en-US" sz="37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altLang="en-US" sz="3335" dirty="0"/>
              <a:t>.</a:t>
            </a:r>
            <a:endParaRPr lang="en-US" altLang="en-US" sz="3335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PROJECT MILESTONE TRACKER</a:t>
            </a:r>
            <a:endParaRPr lang="en-IN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8155" y="1169670"/>
            <a:ext cx="8177530" cy="522414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997612" y="6356350"/>
            <a:ext cx="5022166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"/>
            <a:ext cx="8229600" cy="6081395"/>
          </a:xfrm>
        </p:spPr>
        <p:txBody>
          <a:bodyPr>
            <a:normAutofit fontScale="30000"/>
          </a:bodyPr>
          <a:lstStyle/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altLang="en-US" sz="7665" dirty="0">
                <a:latin typeface="Times New Roman" panose="02020603050405020304" charset="0"/>
                <a:cs typeface="Times New Roman" panose="02020603050405020304" charset="0"/>
              </a:rPr>
              <a:t>The system successfully collects accelerometer and gyroscope data from the mobile device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en-US" altLang="en-US" sz="6665" dirty="0">
                <a:latin typeface="Times New Roman" panose="02020603050405020304" charset="0"/>
                <a:cs typeface="Times New Roman" panose="02020603050405020304" charset="0"/>
              </a:rPr>
              <a:t>Sensor data is continuously monitored in real time while the bike is moving</a:t>
            </a:r>
            <a:r>
              <a:rPr lang="en-US" altLang="en-US" sz="7665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766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The system calculates total acceleration magnitude to identify abnormal impacts.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The machine learning model analyzes sensor patterns to detect possible crashes.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6250" dirty="0"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en-US" altLang="en-US" sz="6250" dirty="0">
                <a:latin typeface="Times New Roman" panose="02020603050405020304" charset="0"/>
                <a:cs typeface="Times New Roman" panose="02020603050405020304" charset="0"/>
              </a:rPr>
              <a:t> When the acceleration exceeds the defined crash threshold, the system identifies it as a crash event.</a:t>
            </a:r>
            <a:endParaRPr lang="en-US" altLang="en-US" sz="6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4665" dirty="0"/>
              <a:t>  </a:t>
            </a:r>
            <a:endParaRPr lang="en-US" alt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80159" y="6356350"/>
            <a:ext cx="609131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5533</Words>
  <Application>WPS Presentation</Application>
  <PresentationFormat>On-screen Show (4:3)</PresentationFormat>
  <Paragraphs>206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Calibri</vt:lpstr>
      <vt:lpstr>Microsoft YaHei</vt:lpstr>
      <vt:lpstr>Arial Unicode MS</vt:lpstr>
      <vt:lpstr>Times New Roman</vt:lpstr>
      <vt:lpstr>Office Theme</vt:lpstr>
      <vt:lpstr>  VARDHAMAN COLLEGE OF ENGINEERING DEPARTMENT OF COMPUTER SCIENCE AND ENGINEERING</vt:lpstr>
      <vt:lpstr>Table of Contents</vt:lpstr>
      <vt:lpstr>TITLE</vt:lpstr>
      <vt:lpstr>PowerPoint 演示文稿</vt:lpstr>
      <vt:lpstr> BACKGROUND RESEARCH</vt:lpstr>
      <vt:lpstr>PowerPoint 演示文稿</vt:lpstr>
      <vt:lpstr>PowerPoint 演示文稿</vt:lpstr>
      <vt:lpstr>PowerPoint 演示文稿</vt:lpstr>
      <vt:lpstr>PROJECT PLANNING</vt:lpstr>
      <vt:lpstr>PowerPoint 演示文稿</vt:lpstr>
      <vt:lpstr>LITERATURE SURVEY </vt:lpstr>
      <vt:lpstr>PowerPoint 演示文稿</vt:lpstr>
      <vt:lpstr>PowerPoint 演示文稿</vt:lpstr>
      <vt:lpstr>PowerPoint 演示文稿</vt:lpstr>
      <vt:lpstr>OBJECTIVES</vt:lpstr>
      <vt:lpstr>PROJECT MILESTONE TRACKER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VARDHAMAN COLLEGE OF ENGINEERING DEPARTMENT OF AIML &amp; AIDS</dc:title>
  <dc:creator>MANISH CHHABRA</dc:creator>
  <dc:description>generated using python-pptx</dc:description>
  <cp:lastModifiedBy>Srilakshmi Tumula</cp:lastModifiedBy>
  <cp:revision>26</cp:revision>
  <dcterms:created xsi:type="dcterms:W3CDTF">2013-01-27T09:14:00Z</dcterms:created>
  <dcterms:modified xsi:type="dcterms:W3CDTF">2026-03-10T06:40:50Z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7BB05F8507614E8BBA97FEEAA85B0766_13</vt:lpwstr>
  </property>
  <property fmtid="{D5CDD505-2E9C-101B-9397-08002B2CF9AE}" pid="3" name="KSOProductBuildVer">
    <vt:lpwstr>1033-12.2.0.23196</vt:lpwstr>
  </property>
</Properties>
</file>